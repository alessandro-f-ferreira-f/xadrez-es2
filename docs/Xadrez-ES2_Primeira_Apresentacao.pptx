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Horas (Planning Poker)</c:v>
                </c:pt>
              </c:strCache>
            </c:strRef>
          </c:tx>
          <c:spPr>
            <a:solidFill>
              <a:srgbClr val="1A1A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1.1</c:v>
                  </c:pt>
                  <c:pt idx="1">
                    <c:v>1.2</c:v>
                  </c:pt>
                  <c:pt idx="2">
                    <c:v>1.3</c:v>
                  </c:pt>
                  <c:pt idx="3">
                    <c:v>1.4</c:v>
                  </c:pt>
                  <c:pt idx="4">
                    <c:v>1.5</c:v>
                  </c:pt>
                  <c:pt idx="5">
                    <c:v>1.6</c:v>
                  </c:pt>
                  <c:pt idx="6">
                    <c:v>1.7</c:v>
                  </c:pt>
                  <c:pt idx="7">
                    <c:v>1.8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</c:v>
                </c:pt>
                <c:pt idx="1">
                  <c:v>34</c:v>
                </c:pt>
                <c:pt idx="2">
                  <c:v>55</c:v>
                </c:pt>
                <c:pt idx="3">
                  <c:v>89</c:v>
                </c:pt>
                <c:pt idx="4">
                  <c:v>55</c:v>
                </c:pt>
                <c:pt idx="5">
                  <c:v>34</c:v>
                </c:pt>
                <c:pt idx="6">
                  <c:v>89</c:v>
                </c:pt>
                <c:pt idx="7">
                  <c:v>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SPI</c:v>
                </c:pt>
              </c:strCache>
            </c:strRef>
          </c:tx>
          <c:spPr>
            <a:solidFill>
              <a:srgbClr val="1A1A2E"/>
            </a:solidFill>
            <a:ln w="31750" cap="flat">
              <a:solidFill>
                <a:srgbClr val="1A1A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1A2E"/>
              </a:solidFill>
              <a:ln w="9525" cap="flat">
                <a:solidFill>
                  <a:srgbClr val="1A1A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Semana 1</c:v>
                  </c:pt>
                  <c:pt idx="1">
                    <c:v>Semana 2</c:v>
                  </c:pt>
                  <c:pt idx="2">
                    <c:v>Semana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0.83</c:v>
                </c:pt>
                <c:pt idx="2">
                  <c:v>0.875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CPI</c:v>
                </c:pt>
              </c:strCache>
            </c:strRef>
          </c:tx>
          <c:spPr>
            <a:solidFill>
              <a:srgbClr val="9C7D1B"/>
            </a:solidFill>
            <a:ln w="31750" cap="flat">
              <a:solidFill>
                <a:srgbClr val="9C7D1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C7D1B"/>
              </a:solidFill>
              <a:ln w="9525" cap="flat">
                <a:solidFill>
                  <a:srgbClr val="9C7D1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Semana 1</c:v>
                  </c:pt>
                  <c:pt idx="1">
                    <c:v>Semana 2</c:v>
                  </c:pt>
                  <c:pt idx="2">
                    <c:v>Semana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1.11</c:v>
                </c:pt>
                <c:pt idx="1">
                  <c:v>0.71</c:v>
                </c:pt>
                <c:pt idx="2">
                  <c:v>0.92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Meta</c:v>
                </c:pt>
              </c:strCache>
            </c:strRef>
          </c:tx>
          <c:spPr>
            <a:solidFill>
              <a:srgbClr val="C7C7D3"/>
            </a:solidFill>
            <a:ln w="31750" cap="flat">
              <a:solidFill>
                <a:srgbClr val="C7C7D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7C7D3"/>
              </a:solidFill>
              <a:ln w="9525" cap="flat">
                <a:solidFill>
                  <a:srgbClr val="C7C7D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Semana 1</c:v>
                  </c:pt>
                  <c:pt idx="1">
                    <c:v>Semana 2</c:v>
                  </c:pt>
                  <c:pt idx="2">
                    <c:v>Semana 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.6"/>
        </c:scaling>
        <c:delete val="0"/>
        <c:axPos val="l"/>
        <c:majorGridlines>
          <c:spPr>
            <a:ln w="9525" cap="flat">
              <a:solidFill>
                <a:srgbClr val="EE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6B6B7D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45836" y="68580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♛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0" y="196596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XADREZ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0" y="26974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FC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Apresentação de Acompanhamento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88636" y="3337560"/>
            <a:ext cx="2011680" cy="0"/>
          </a:xfrm>
          <a:prstGeom prst="line">
            <a:avLst/>
          </a:prstGeom>
          <a:noFill/>
          <a:ln w="15875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611880"/>
            <a:ext cx="99943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A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Cabral Liporage   ·   Eduardo Rottschaefer Oliveira   ·   Caio Veiga Pires   ·   Alessandro Felipe Ferreira   ·   José Enrique Viana   ·   João Vitor Pereira Rodrigues   ·   Allan Vignoli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0" y="59893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7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Software 2   •   14 de Setembro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7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DO PRODUTO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estamos construindo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755648"/>
            <a:ext cx="52120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 de xadrez jogável localmente contra uma IA, sem depender de internet — com multiplayer local (hot-seat) no mesmo dispositivo. Multiplayer online é extensão futura, não obrigatória.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218688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modular, com fronteiras de responsabilidade estreitas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Multiplataforma: Windows, macOS e Linux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Tolerante a falhas — crash do motor não derruba o cliente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627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— MVP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92240" y="2057400"/>
            <a:ext cx="2148840" cy="777240"/>
          </a:xfrm>
          <a:prstGeom prst="roundRect">
            <a:avLst>
              <a:gd name="adj" fmla="val 7059"/>
            </a:avLst>
          </a:prstGeom>
          <a:solidFill>
            <a:srgbClr val="252A4A"/>
          </a:solidFill>
          <a:ln w="12700">
            <a:solidFill>
              <a:srgbClr val="3A3F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05740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Desktop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(C++)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89720" y="2057400"/>
            <a:ext cx="2148840" cy="777240"/>
          </a:xfrm>
          <a:prstGeom prst="roundRect">
            <a:avLst>
              <a:gd name="adj" fmla="val 7059"/>
            </a:avLst>
          </a:prstGeom>
          <a:solidFill>
            <a:srgbClr val="252A4A"/>
          </a:solidFill>
          <a:ln w="12700">
            <a:solidFill>
              <a:srgbClr val="3A3F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89720" y="205740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Regras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IA (C)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41080" y="2446020"/>
            <a:ext cx="548640" cy="0"/>
          </a:xfrm>
          <a:prstGeom prst="line">
            <a:avLst/>
          </a:prstGeom>
          <a:noFill/>
          <a:ln w="22225">
            <a:solidFill>
              <a:srgbClr val="C9A227"/>
            </a:solidFill>
            <a:prstDash val="solid"/>
            <a:headEnd type="triangl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492240" y="290779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7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subprocesso  ·  stdin/stdout  ·  protocolo estilo UCI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92240" y="32461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FC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servidor no caminho — decisão fechada em arquitetura-xadrez.md (13/09).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92240" y="3794760"/>
            <a:ext cx="4846320" cy="0"/>
          </a:xfrm>
          <a:prstGeom prst="line">
            <a:avLst/>
          </a:prstGeom>
          <a:noFill/>
          <a:ln w="9525">
            <a:solidFill>
              <a:srgbClr val="3A3F63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492240" y="395020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D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 FUTURA (se sobrar tempo)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4242816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AB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Servidor (Node/TS) com API REST/WebSocket, para multiplayer online — adicionado por cima do caminho direto, sem substituí-lo.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92240" y="5193792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7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principais: partida vs. IA · roque/en passant/promoção · xeque-mate, afogamento, empates · histórico de lances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Xadrez — Primeira Apresentação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411712" y="6172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33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♞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7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DO PROJETO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Analítica do Projeto (EAP)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42916" y="137160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5042916" y="1371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Xadrez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4476" y="1828800"/>
            <a:ext cx="0" cy="292608"/>
          </a:xfrm>
          <a:prstGeom prst="line">
            <a:avLst/>
          </a:prstGeom>
          <a:noFill/>
          <a:ln w="15875">
            <a:solidFill>
              <a:srgbClr val="B7B7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5860" y="2121408"/>
            <a:ext cx="9857232" cy="0"/>
          </a:xfrm>
          <a:prstGeom prst="line">
            <a:avLst/>
          </a:prstGeom>
          <a:noFill/>
          <a:ln w="15875">
            <a:solidFill>
              <a:srgbClr val="B7B7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5860" y="2121408"/>
            <a:ext cx="0" cy="274320"/>
          </a:xfrm>
          <a:prstGeom prst="line">
            <a:avLst/>
          </a:prstGeom>
          <a:noFill/>
          <a:ln w="15875">
            <a:solidFill>
              <a:srgbClr val="B7B7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6636" y="2395728"/>
            <a:ext cx="1298448" cy="960120"/>
          </a:xfrm>
          <a:prstGeom prst="roundRect">
            <a:avLst>
              <a:gd name="adj" fmla="val 4762"/>
            </a:avLst>
          </a:prstGeom>
          <a:solidFill>
            <a:srgbClr val="E9EEFB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" y="2459736"/>
            <a:ext cx="118872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9C7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</a:t>
            </a:r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Apresentações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0916" y="3429000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entregas ao longo do curso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74036" y="2121408"/>
            <a:ext cx="0" cy="274320"/>
          </a:xfrm>
          <a:prstGeom prst="line">
            <a:avLst/>
          </a:prstGeom>
          <a:noFill/>
          <a:ln w="15875">
            <a:solidFill>
              <a:srgbClr val="B7B7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24812" y="2395728"/>
            <a:ext cx="1298448" cy="960120"/>
          </a:xfrm>
          <a:prstGeom prst="roundRect">
            <a:avLst>
              <a:gd name="adj" fmla="val 4762"/>
            </a:avLst>
          </a:prstGeom>
          <a:solidFill>
            <a:srgbClr val="E9EEFB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79676" y="2459736"/>
            <a:ext cx="118872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9C7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</a:t>
            </a:r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79092" y="3429000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Reuniões · documentação · testes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982212" y="2121408"/>
            <a:ext cx="0" cy="274320"/>
          </a:xfrm>
          <a:prstGeom prst="line">
            <a:avLst/>
          </a:prstGeom>
          <a:noFill/>
          <a:ln w="15875">
            <a:solidFill>
              <a:srgbClr val="B7B7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2988" y="2395728"/>
            <a:ext cx="1298448" cy="960120"/>
          </a:xfrm>
          <a:prstGeom prst="roundRect">
            <a:avLst>
              <a:gd name="adj" fmla="val 4762"/>
            </a:avLst>
          </a:prstGeom>
          <a:solidFill>
            <a:srgbClr val="E9EEFB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7852" y="2459736"/>
            <a:ext cx="118872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9C7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 </a:t>
            </a:r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Desktop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87268" y="3429000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Tabuleiro · interação · HUD · menus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390388" y="2121408"/>
            <a:ext cx="0" cy="274320"/>
          </a:xfrm>
          <a:prstGeom prst="line">
            <a:avLst/>
          </a:prstGeom>
          <a:noFill/>
          <a:ln w="15875">
            <a:solidFill>
              <a:srgbClr val="B7B7C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41164" y="2395728"/>
            <a:ext cx="1298448" cy="960120"/>
          </a:xfrm>
          <a:prstGeom prst="roundRect">
            <a:avLst>
              <a:gd name="adj" fmla="val 4762"/>
            </a:avLst>
          </a:prstGeom>
          <a:solidFill>
            <a:srgbClr val="E9EEFB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96028" y="2459736"/>
            <a:ext cx="118872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9C7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 </a:t>
            </a:r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de Regras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95444" y="3429000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· geração · validação · FEN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798564" y="2121408"/>
            <a:ext cx="0" cy="274320"/>
          </a:xfrm>
          <a:prstGeom prst="line">
            <a:avLst/>
          </a:prstGeom>
          <a:noFill/>
          <a:ln w="15875">
            <a:solidFill>
              <a:srgbClr val="B7B7C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49340" y="2395728"/>
            <a:ext cx="1298448" cy="960120"/>
          </a:xfrm>
          <a:prstGeom prst="roundRect">
            <a:avLst>
              <a:gd name="adj" fmla="val 4762"/>
            </a:avLst>
          </a:prstGeom>
          <a:solidFill>
            <a:srgbClr val="E9EEFB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04204" y="2459736"/>
            <a:ext cx="118872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9C7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 </a:t>
            </a:r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03620" y="3429000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· minimax · alfa-beta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206740" y="2121408"/>
            <a:ext cx="0" cy="274320"/>
          </a:xfrm>
          <a:prstGeom prst="line">
            <a:avLst/>
          </a:prstGeom>
          <a:noFill/>
          <a:ln w="15875">
            <a:solidFill>
              <a:srgbClr val="B7B7C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57516" y="2395728"/>
            <a:ext cx="1298448" cy="960120"/>
          </a:xfrm>
          <a:prstGeom prst="roundRect">
            <a:avLst>
              <a:gd name="adj" fmla="val 4762"/>
            </a:avLst>
          </a:prstGeom>
          <a:solidFill>
            <a:srgbClr val="E9EEFB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12380" y="2459736"/>
            <a:ext cx="118872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9C7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  </a:t>
            </a:r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e Infra do Motor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511796" y="3429000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· UCI · testes automatizados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614916" y="2121408"/>
            <a:ext cx="0" cy="274320"/>
          </a:xfrm>
          <a:prstGeom prst="line">
            <a:avLst/>
          </a:prstGeom>
          <a:noFill/>
          <a:ln w="15875">
            <a:solidFill>
              <a:srgbClr val="B7B7C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65692" y="2395728"/>
            <a:ext cx="1298448" cy="960120"/>
          </a:xfrm>
          <a:prstGeom prst="roundRect">
            <a:avLst>
              <a:gd name="adj" fmla="val 4762"/>
            </a:avLst>
          </a:prstGeom>
          <a:solidFill>
            <a:srgbClr val="E6E6EC"/>
          </a:solidFill>
          <a:ln w="12700">
            <a:solidFill>
              <a:srgbClr val="8D8D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20556" y="2459736"/>
            <a:ext cx="118872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8D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 </a:t>
            </a:r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6A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919972" y="3429000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Sessões · API REST · WebSocket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965692" y="2194560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D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1023092" y="2121408"/>
            <a:ext cx="0" cy="274320"/>
          </a:xfrm>
          <a:prstGeom prst="line">
            <a:avLst/>
          </a:prstGeom>
          <a:noFill/>
          <a:ln w="15875">
            <a:solidFill>
              <a:srgbClr val="B7B7C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373868" y="2395728"/>
            <a:ext cx="1298448" cy="960120"/>
          </a:xfrm>
          <a:prstGeom prst="roundRect">
            <a:avLst>
              <a:gd name="adj" fmla="val 4762"/>
            </a:avLst>
          </a:prstGeom>
          <a:solidFill>
            <a:srgbClr val="E6E6EC"/>
          </a:solidFill>
          <a:ln w="12700">
            <a:solidFill>
              <a:srgbClr val="8D8D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28732" y="2459736"/>
            <a:ext cx="118872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8D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 </a:t>
            </a:r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6A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Web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328148" y="3429000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· comunicação em tempo real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373868" y="2194560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D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02920" y="47091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9C7D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43" name="Text 41"/>
          <p:cNvSpPr/>
          <p:nvPr/>
        </p:nvSpPr>
        <p:spPr>
          <a:xfrm>
            <a:off x="1874520" y="48188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pacotes de nível 1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251960" y="47091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9C7D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90+</a:t>
            </a:r>
            <a:endParaRPr lang="en-US" sz="3400" dirty="0"/>
          </a:p>
        </p:txBody>
      </p:sp>
      <p:sp>
        <p:nvSpPr>
          <p:cNvPr id="45" name="Text 43"/>
          <p:cNvSpPr/>
          <p:nvPr/>
        </p:nvSpPr>
        <p:spPr>
          <a:xfrm>
            <a:off x="5623560" y="48188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no total (todos os níveis)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001000" y="47091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9C7D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400" dirty="0"/>
          </a:p>
        </p:txBody>
      </p:sp>
      <p:sp>
        <p:nvSpPr>
          <p:cNvPr id="47" name="Text 45"/>
          <p:cNvSpPr/>
          <p:nvPr/>
        </p:nvSpPr>
        <p:spPr>
          <a:xfrm>
            <a:off x="9372600" y="48188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reuniões semanais programadas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02920" y="5532120"/>
            <a:ext cx="11183112" cy="0"/>
          </a:xfrm>
          <a:prstGeom prst="line">
            <a:avLst/>
          </a:prstGeom>
          <a:noFill/>
          <a:ln w="9525">
            <a:solidFill>
              <a:srgbClr val="DCDC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5650992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1 mostrado para leitura rápida.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D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e 1.8 são extensão condicional (multiplayer online), fora do caminho crítico do MVP. </a:t>
            </a:r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Detalhamento completo dos pacotes está em docs/EAP.md no repositório.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Xadrez — Primeira Apresentação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1411712" y="6172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33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♞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7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 de Desenvolvimento (Gantt)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880360" y="1481328"/>
            <a:ext cx="0" cy="4160520"/>
          </a:xfrm>
          <a:prstGeom prst="line">
            <a:avLst/>
          </a:prstGeom>
          <a:noFill/>
          <a:ln w="9525">
            <a:solidFill>
              <a:srgbClr val="E4E4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80360" y="122529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449187" y="1481328"/>
            <a:ext cx="0" cy="4160520"/>
          </a:xfrm>
          <a:prstGeom prst="line">
            <a:avLst/>
          </a:prstGeom>
          <a:noFill/>
          <a:ln w="9525">
            <a:solidFill>
              <a:srgbClr val="E4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49187" y="122529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967406" y="1481328"/>
            <a:ext cx="0" cy="4160520"/>
          </a:xfrm>
          <a:prstGeom prst="line">
            <a:avLst/>
          </a:prstGeom>
          <a:noFill/>
          <a:ln w="9525">
            <a:solidFill>
              <a:srgbClr val="E4E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67406" y="122529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36233" y="1481328"/>
            <a:ext cx="0" cy="4160520"/>
          </a:xfrm>
          <a:prstGeom prst="line">
            <a:avLst/>
          </a:prstGeom>
          <a:noFill/>
          <a:ln w="9525">
            <a:solidFill>
              <a:srgbClr val="E4E4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36233" y="122529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054452" y="1481328"/>
            <a:ext cx="0" cy="4160520"/>
          </a:xfrm>
          <a:prstGeom prst="line">
            <a:avLst/>
          </a:prstGeom>
          <a:noFill/>
          <a:ln w="9525">
            <a:solidFill>
              <a:srgbClr val="E4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4452" y="122529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623278" y="1481328"/>
            <a:ext cx="0" cy="4160520"/>
          </a:xfrm>
          <a:prstGeom prst="line">
            <a:avLst/>
          </a:prstGeom>
          <a:noFill/>
          <a:ln w="9525">
            <a:solidFill>
              <a:srgbClr val="E4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23278" y="122529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1783080"/>
            <a:ext cx="2286000" cy="4434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7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Apresentações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880360" y="2226564"/>
            <a:ext cx="8805672" cy="0"/>
          </a:xfrm>
          <a:prstGeom prst="line">
            <a:avLst/>
          </a:prstGeom>
          <a:noFill/>
          <a:ln w="6350">
            <a:solidFill>
              <a:srgbClr val="EEEE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07082" y="1865376"/>
            <a:ext cx="3542512" cy="278892"/>
          </a:xfrm>
          <a:prstGeom prst="roundRect">
            <a:avLst>
              <a:gd name="adj" fmla="val 9836"/>
            </a:avLst>
          </a:prstGeom>
          <a:solidFill>
            <a:srgbClr val="1A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226564"/>
            <a:ext cx="2286000" cy="4434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7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880360" y="2670048"/>
            <a:ext cx="8805672" cy="0"/>
          </a:xfrm>
          <a:prstGeom prst="line">
            <a:avLst/>
          </a:prstGeom>
          <a:noFill/>
          <a:ln w="6350">
            <a:solidFill>
              <a:srgbClr val="EEEE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81575" y="2308860"/>
            <a:ext cx="5668019" cy="278892"/>
          </a:xfrm>
          <a:prstGeom prst="roundRect">
            <a:avLst>
              <a:gd name="adj" fmla="val 9836"/>
            </a:avLst>
          </a:prstGeom>
          <a:solidFill>
            <a:srgbClr val="1A1A2E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670048"/>
            <a:ext cx="2286000" cy="4434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7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 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Desktop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880360" y="3113532"/>
            <a:ext cx="8805672" cy="0"/>
          </a:xfrm>
          <a:prstGeom prst="line">
            <a:avLst/>
          </a:prstGeom>
          <a:noFill/>
          <a:ln w="6350">
            <a:solidFill>
              <a:srgbClr val="EEEE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81575" y="2752344"/>
            <a:ext cx="7995955" cy="278892"/>
          </a:xfrm>
          <a:prstGeom prst="roundRect">
            <a:avLst>
              <a:gd name="adj" fmla="val 9836"/>
            </a:avLst>
          </a:prstGeom>
          <a:solidFill>
            <a:srgbClr val="1A1A2E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113532"/>
            <a:ext cx="2286000" cy="4434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7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 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de Regras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880360" y="3557016"/>
            <a:ext cx="8805672" cy="0"/>
          </a:xfrm>
          <a:prstGeom prst="line">
            <a:avLst/>
          </a:prstGeom>
          <a:noFill/>
          <a:ln w="6350">
            <a:solidFill>
              <a:srgbClr val="EEEE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81575" y="3195828"/>
            <a:ext cx="5516197" cy="278892"/>
          </a:xfrm>
          <a:prstGeom prst="roundRect">
            <a:avLst>
              <a:gd name="adj" fmla="val 9836"/>
            </a:avLst>
          </a:prstGeom>
          <a:solidFill>
            <a:srgbClr val="1A1A2E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557016"/>
            <a:ext cx="2286000" cy="4434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7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 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880360" y="4000500"/>
            <a:ext cx="8805672" cy="0"/>
          </a:xfrm>
          <a:prstGeom prst="line">
            <a:avLst/>
          </a:prstGeom>
          <a:noFill/>
          <a:ln w="6350">
            <a:solidFill>
              <a:srgbClr val="EEEE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81575" y="3639312"/>
            <a:ext cx="5516197" cy="278892"/>
          </a:xfrm>
          <a:prstGeom prst="roundRect">
            <a:avLst>
              <a:gd name="adj" fmla="val 9836"/>
            </a:avLst>
          </a:prstGeom>
          <a:solidFill>
            <a:srgbClr val="1A1A2E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4000500"/>
            <a:ext cx="2286000" cy="4434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7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  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e Infra do Motor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880360" y="4443984"/>
            <a:ext cx="8805672" cy="0"/>
          </a:xfrm>
          <a:prstGeom prst="line">
            <a:avLst/>
          </a:prstGeom>
          <a:noFill/>
          <a:ln w="6350">
            <a:solidFill>
              <a:srgbClr val="EEEE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07082" y="4082796"/>
            <a:ext cx="3390690" cy="278892"/>
          </a:xfrm>
          <a:prstGeom prst="roundRect">
            <a:avLst>
              <a:gd name="adj" fmla="val 9836"/>
            </a:avLst>
          </a:prstGeom>
          <a:solidFill>
            <a:srgbClr val="1A1A2E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4443984"/>
            <a:ext cx="2286000" cy="4434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D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 </a:t>
            </a:r>
            <a:pPr indent="0" marL="0">
              <a:buNone/>
            </a:pPr>
            <a:r>
              <a:rPr lang="en-US" sz="1050" dirty="0">
                <a:solidFill>
                  <a:srgbClr val="6A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880360" y="4887468"/>
            <a:ext cx="8805672" cy="0"/>
          </a:xfrm>
          <a:prstGeom prst="line">
            <a:avLst/>
          </a:prstGeom>
          <a:noFill/>
          <a:ln w="6350">
            <a:solidFill>
              <a:srgbClr val="EEEE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69835" y="4526280"/>
            <a:ext cx="2327936" cy="278892"/>
          </a:xfrm>
          <a:prstGeom prst="roundRect">
            <a:avLst>
              <a:gd name="adj" fmla="val 9836"/>
            </a:avLst>
          </a:prstGeom>
          <a:solidFill>
            <a:srgbClr val="8D8DA0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887468"/>
            <a:ext cx="2286000" cy="4434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D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 </a:t>
            </a:r>
            <a:pPr indent="0" marL="0">
              <a:buNone/>
            </a:pPr>
            <a:r>
              <a:rPr lang="en-US" sz="1050" dirty="0">
                <a:solidFill>
                  <a:srgbClr val="6A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Web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880360" y="5330952"/>
            <a:ext cx="8805672" cy="0"/>
          </a:xfrm>
          <a:prstGeom prst="line">
            <a:avLst/>
          </a:prstGeom>
          <a:noFill/>
          <a:ln w="6350">
            <a:solidFill>
              <a:srgbClr val="EEEE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80360" y="4887468"/>
            <a:ext cx="2926080" cy="4434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D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 — sem data definida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107082" y="1481328"/>
            <a:ext cx="0" cy="4160520"/>
          </a:xfrm>
          <a:prstGeom prst="line">
            <a:avLst/>
          </a:prstGeom>
          <a:noFill/>
          <a:ln w="15875">
            <a:solidFill>
              <a:srgbClr val="C9A227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4604162" y="146304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C7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Apres.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169835" y="1481328"/>
            <a:ext cx="0" cy="4160520"/>
          </a:xfrm>
          <a:prstGeom prst="line">
            <a:avLst/>
          </a:prstGeom>
          <a:noFill/>
          <a:ln w="15875">
            <a:solidFill>
              <a:srgbClr val="C9A227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5666915" y="146304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C7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Apres.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8649593" y="1481328"/>
            <a:ext cx="0" cy="4160520"/>
          </a:xfrm>
          <a:prstGeom prst="line">
            <a:avLst/>
          </a:prstGeom>
          <a:noFill/>
          <a:ln w="15875">
            <a:solidFill>
              <a:srgbClr val="C9A227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8146673" y="146304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C7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3ª Apres.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02920" y="6053328"/>
            <a:ext cx="11183112" cy="0"/>
          </a:xfrm>
          <a:prstGeom prst="line">
            <a:avLst/>
          </a:prstGeom>
          <a:noFill/>
          <a:ln w="9525">
            <a:solidFill>
              <a:srgbClr val="DCDC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6144768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 iterativa e incremental, com paralelismo entre a equipe de Interface e a do Motor de Regras. Datas de nível 1, extraídas do cronograma completo (docs/cronograma_gantt.pdf).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Xadrez — Primeira Apresentação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1411712" y="6172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33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♞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7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Estimativas de Esforço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44348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544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496h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77240" y="22585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APF — 62 Pontos de Função (não ajustados) × 8h/PF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212080" y="1417320"/>
            <a:ext cx="44348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0" y="15544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9C7D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424h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486400" y="22585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Poker — soma dos 8 pacotes da EAP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761488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equipe se estima ~15% mais rápida que a projeção da APF, por conhecimento prévio em algoritmos de busca.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977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por pacote da EAP (Planning Poker)</a:t>
            </a:r>
            <a:endParaRPr lang="en-US" sz="1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02920" y="4279392"/>
          <a:ext cx="11183112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Xadrez — Primeira Apresentação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1411712" y="6172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33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♞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7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Orçamento do Projeto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Valor-hora base: </a:t>
            </a:r>
            <a:pPr indent="0" marL="0">
              <a:buNone/>
            </a:pPr>
            <a:r>
              <a:rPr lang="en-US" sz="1400" b="1" dirty="0">
                <a:solidFill>
                  <a:srgbClr val="9C7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R$ 50,00</a:t>
            </a:r>
            <a:pPr indent="0" marL="0">
              <a:buNone/>
            </a:pPr>
            <a:r>
              <a:rPr lang="en-US" sz="1400" i="1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(perfil júnior)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468880"/>
            <a:ext cx="11183112" cy="502920"/>
          </a:xfrm>
          <a:prstGeom prst="roundRect">
            <a:avLst>
              <a:gd name="adj" fmla="val 10909"/>
            </a:avLst>
          </a:prstGeom>
          <a:solidFill>
            <a:srgbClr val="ECECF3"/>
          </a:solidFill>
          <a:ln/>
        </p:spPr>
      </p:sp>
      <p:sp>
        <p:nvSpPr>
          <p:cNvPr id="6" name="Shape 4"/>
          <p:cNvSpPr/>
          <p:nvPr/>
        </p:nvSpPr>
        <p:spPr>
          <a:xfrm>
            <a:off x="3578276" y="2468880"/>
            <a:ext cx="5032400" cy="502920"/>
          </a:xfrm>
          <a:prstGeom prst="roundRect">
            <a:avLst>
              <a:gd name="adj" fmla="val 10909"/>
            </a:avLst>
          </a:prstGeom>
          <a:solidFill>
            <a:srgbClr val="C9A227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578276" y="2359152"/>
            <a:ext cx="0" cy="722376"/>
          </a:xfrm>
          <a:prstGeom prst="line">
            <a:avLst/>
          </a:prstGeom>
          <a:noFill/>
          <a:ln w="25400">
            <a:solidFill>
              <a:srgbClr val="9C7D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72436" y="1645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C7D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R$ 21.200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298116" y="3108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Poker (424h) — orçamento adotado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610676" y="2359152"/>
            <a:ext cx="0" cy="722376"/>
          </a:xfrm>
          <a:prstGeom prst="line">
            <a:avLst/>
          </a:prstGeom>
          <a:noFill/>
          <a:ln w="25400">
            <a:solidFill>
              <a:srgbClr val="9797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04836" y="1645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6B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R$ 24.800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30516" y="3108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APF (496h) — teto de segurança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4617720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orçamento de execução fica fixado em R$ 21.200,00 (base Planning Poker), com margem de segurança técnica até o teto de R$ 24.800,00 projetado pela APF.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5440680"/>
            <a:ext cx="11183112" cy="6858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5440680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424h × R$ 50 = R$ 21.200   </a:t>
            </a:r>
            <a:pPr algn="ctr" indent="0" marL="0">
              <a:buNone/>
            </a:pPr>
            <a:r>
              <a:rPr lang="en-US" sz="1300" dirty="0">
                <a:solidFill>
                  <a:srgbClr val="BFBF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 496h × R$ 50 = R$ 24.800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Xadrez — Primeira Apresentação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411712" y="6172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33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♞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7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GERÊNCIA DE RISCOS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Levantamento e Priorização por Exposição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 rot="16200000">
            <a:off x="22860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691640"/>
            <a:ext cx="274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188720" y="1691640"/>
            <a:ext cx="603504" cy="603504"/>
          </a:xfrm>
          <a:prstGeom prst="rect">
            <a:avLst/>
          </a:prstGeom>
          <a:solidFill>
            <a:srgbClr val="DCEBD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92224" y="1691640"/>
            <a:ext cx="603504" cy="603504"/>
          </a:xfrm>
          <a:prstGeom prst="rect">
            <a:avLst/>
          </a:prstGeom>
          <a:solidFill>
            <a:srgbClr val="F7E8C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95728" y="1691640"/>
            <a:ext cx="603504" cy="603504"/>
          </a:xfrm>
          <a:prstGeom prst="rect">
            <a:avLst/>
          </a:prstGeom>
          <a:solidFill>
            <a:srgbClr val="F4DCD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99232" y="1691640"/>
            <a:ext cx="603504" cy="603504"/>
          </a:xfrm>
          <a:prstGeom prst="rect">
            <a:avLst/>
          </a:prstGeom>
          <a:solidFill>
            <a:srgbClr val="F4DCD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02736" y="1691640"/>
            <a:ext cx="603504" cy="603504"/>
          </a:xfrm>
          <a:prstGeom prst="rect">
            <a:avLst/>
          </a:prstGeom>
          <a:solidFill>
            <a:srgbClr val="F4DCD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295144"/>
            <a:ext cx="274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88720" y="2295144"/>
            <a:ext cx="603504" cy="603504"/>
          </a:xfrm>
          <a:prstGeom prst="rect">
            <a:avLst/>
          </a:prstGeom>
          <a:solidFill>
            <a:srgbClr val="DCEBD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92224" y="2295144"/>
            <a:ext cx="603504" cy="603504"/>
          </a:xfrm>
          <a:prstGeom prst="rect">
            <a:avLst/>
          </a:prstGeom>
          <a:solidFill>
            <a:srgbClr val="DCEBD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95728" y="2295144"/>
            <a:ext cx="603504" cy="603504"/>
          </a:xfrm>
          <a:prstGeom prst="rect">
            <a:avLst/>
          </a:prstGeom>
          <a:solidFill>
            <a:srgbClr val="F7E8C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99232" y="2295144"/>
            <a:ext cx="603504" cy="603504"/>
          </a:xfrm>
          <a:prstGeom prst="rect">
            <a:avLst/>
          </a:prstGeom>
          <a:solidFill>
            <a:srgbClr val="F4DCD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02736" y="2295144"/>
            <a:ext cx="603504" cy="603504"/>
          </a:xfrm>
          <a:prstGeom prst="rect">
            <a:avLst/>
          </a:prstGeom>
          <a:solidFill>
            <a:srgbClr val="F4DCD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2898648"/>
            <a:ext cx="274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188720" y="2898648"/>
            <a:ext cx="603504" cy="603504"/>
          </a:xfrm>
          <a:prstGeom prst="rect">
            <a:avLst/>
          </a:prstGeom>
          <a:solidFill>
            <a:srgbClr val="DCEBD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92224" y="2898648"/>
            <a:ext cx="603504" cy="603504"/>
          </a:xfrm>
          <a:prstGeom prst="rect">
            <a:avLst/>
          </a:prstGeom>
          <a:solidFill>
            <a:srgbClr val="DCEBD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95728" y="2898648"/>
            <a:ext cx="603504" cy="603504"/>
          </a:xfrm>
          <a:prstGeom prst="rect">
            <a:avLst/>
          </a:prstGeom>
          <a:solidFill>
            <a:srgbClr val="F7E8C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99232" y="2898648"/>
            <a:ext cx="603504" cy="603504"/>
          </a:xfrm>
          <a:prstGeom prst="rect">
            <a:avLst/>
          </a:prstGeom>
          <a:solidFill>
            <a:srgbClr val="F7E8C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02736" y="2898648"/>
            <a:ext cx="603504" cy="603504"/>
          </a:xfrm>
          <a:prstGeom prst="rect">
            <a:avLst/>
          </a:prstGeom>
          <a:solidFill>
            <a:srgbClr val="F4DCD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502152"/>
            <a:ext cx="274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188720" y="3502152"/>
            <a:ext cx="603504" cy="603504"/>
          </a:xfrm>
          <a:prstGeom prst="rect">
            <a:avLst/>
          </a:prstGeom>
          <a:solidFill>
            <a:srgbClr val="DCEBD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92224" y="3502152"/>
            <a:ext cx="603504" cy="603504"/>
          </a:xfrm>
          <a:prstGeom prst="rect">
            <a:avLst/>
          </a:prstGeom>
          <a:solidFill>
            <a:srgbClr val="DCEBD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95728" y="3502152"/>
            <a:ext cx="603504" cy="603504"/>
          </a:xfrm>
          <a:prstGeom prst="rect">
            <a:avLst/>
          </a:prstGeom>
          <a:solidFill>
            <a:srgbClr val="DCEBD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502152"/>
            <a:ext cx="603504" cy="603504"/>
          </a:xfrm>
          <a:prstGeom prst="rect">
            <a:avLst/>
          </a:prstGeom>
          <a:solidFill>
            <a:srgbClr val="DCEBD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02736" y="3502152"/>
            <a:ext cx="603504" cy="603504"/>
          </a:xfrm>
          <a:prstGeom prst="rect">
            <a:avLst/>
          </a:prstGeom>
          <a:solidFill>
            <a:srgbClr val="F7E8C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105656"/>
            <a:ext cx="274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188720" y="4105656"/>
            <a:ext cx="603504" cy="603504"/>
          </a:xfrm>
          <a:prstGeom prst="rect">
            <a:avLst/>
          </a:prstGeom>
          <a:solidFill>
            <a:srgbClr val="DCEBD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92224" y="4105656"/>
            <a:ext cx="603504" cy="603504"/>
          </a:xfrm>
          <a:prstGeom prst="rect">
            <a:avLst/>
          </a:prstGeom>
          <a:solidFill>
            <a:srgbClr val="DCEBD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95728" y="4105656"/>
            <a:ext cx="603504" cy="603504"/>
          </a:xfrm>
          <a:prstGeom prst="rect">
            <a:avLst/>
          </a:prstGeom>
          <a:solidFill>
            <a:srgbClr val="DCEBD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99232" y="4105656"/>
            <a:ext cx="603504" cy="603504"/>
          </a:xfrm>
          <a:prstGeom prst="rect">
            <a:avLst/>
          </a:prstGeom>
          <a:solidFill>
            <a:srgbClr val="DCEBD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02736" y="4105656"/>
            <a:ext cx="603504" cy="603504"/>
          </a:xfrm>
          <a:prstGeom prst="rect">
            <a:avLst/>
          </a:prstGeom>
          <a:solidFill>
            <a:srgbClr val="DCEBD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88720" y="4764024"/>
            <a:ext cx="603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792224" y="4764024"/>
            <a:ext cx="603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395728" y="4764024"/>
            <a:ext cx="603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999232" y="4764024"/>
            <a:ext cx="603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02736" y="4764024"/>
            <a:ext cx="603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88720" y="505663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02736" y="2295144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2999232" y="28986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R2, R8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3602736" y="28986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2999232" y="169164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R4, R7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2395728" y="28986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2395728" y="3502152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2999232" y="2295144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R9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1188720" y="5367528"/>
            <a:ext cx="201168" cy="201168"/>
          </a:xfrm>
          <a:prstGeom prst="rect">
            <a:avLst/>
          </a:prstGeom>
          <a:solidFill>
            <a:srgbClr val="DCEBDF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44752" y="534009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240280" y="5367528"/>
            <a:ext cx="201168" cy="201168"/>
          </a:xfrm>
          <a:prstGeom prst="rect">
            <a:avLst/>
          </a:prstGeom>
          <a:solidFill>
            <a:srgbClr val="F7E8CE"/>
          </a:solidFill>
          <a:ln w="12700">
            <a:solidFill>
              <a:srgbClr val="C9752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96312" y="534009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291840" y="5367528"/>
            <a:ext cx="201168" cy="201168"/>
          </a:xfrm>
          <a:prstGeom prst="rect">
            <a:avLst/>
          </a:prstGeom>
          <a:solidFill>
            <a:srgbClr val="F4DCDC"/>
          </a:solidFill>
          <a:ln w="12700">
            <a:solidFill>
              <a:srgbClr val="A8323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47872" y="534009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257800" y="1691640"/>
            <a:ext cx="6428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por exposição (Probabilidade × Impacto)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5257800" y="2084832"/>
            <a:ext cx="6428232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422392" y="2231136"/>
            <a:ext cx="502920" cy="365760"/>
          </a:xfrm>
          <a:prstGeom prst="roundRect">
            <a:avLst>
              <a:gd name="adj" fmla="val 10000"/>
            </a:avLst>
          </a:prstGeom>
          <a:solidFill>
            <a:srgbClr val="A83232"/>
          </a:solidFill>
          <a:ln/>
        </p:spPr>
      </p:sp>
      <p:sp>
        <p:nvSpPr>
          <p:cNvPr id="57" name="Text 55"/>
          <p:cNvSpPr/>
          <p:nvPr/>
        </p:nvSpPr>
        <p:spPr>
          <a:xfrm>
            <a:off x="5422392" y="223113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6035040" y="2176272"/>
            <a:ext cx="5513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na implementação das regras do xadrez</a:t>
            </a:r>
            <a:pPr indent="0" marL="0">
              <a:buNone/>
            </a:pPr>
            <a:r>
              <a:rPr lang="en-US" sz="1150" i="1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exposição 20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6035040" y="2505456"/>
            <a:ext cx="55138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70" b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Contenção: </a:t>
            </a:r>
            <a:pPr indent="0" marL="0">
              <a:lnSpc>
                <a:spcPct val="118000"/>
              </a:lnSpc>
              <a:buNone/>
            </a:pPr>
            <a:r>
              <a:rPr lang="en-US" sz="97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unitários rígidos e TDD na máquina de regras.  </a:t>
            </a:r>
            <a:pPr indent="0" marL="0">
              <a:lnSpc>
                <a:spcPct val="118000"/>
              </a:lnSpc>
              <a:buNone/>
            </a:pPr>
            <a:r>
              <a:rPr lang="en-US" sz="970" b="1" dirty="0">
                <a:solidFill>
                  <a:srgbClr val="C97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Contingência: </a:t>
            </a:r>
            <a:pPr indent="0" marL="0">
              <a:lnSpc>
                <a:spcPct val="118000"/>
              </a:lnSpc>
              <a:buNone/>
            </a:pPr>
            <a:r>
              <a:rPr lang="en-US" sz="97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Isolar e corrigir a regra; suspender funcionalidades dependentes.</a:t>
            </a:r>
            <a:endParaRPr lang="en-US" sz="970" dirty="0"/>
          </a:p>
        </p:txBody>
      </p:sp>
      <p:sp>
        <p:nvSpPr>
          <p:cNvPr id="60" name="Shape 58"/>
          <p:cNvSpPr/>
          <p:nvPr/>
        </p:nvSpPr>
        <p:spPr>
          <a:xfrm>
            <a:off x="5257800" y="3291840"/>
            <a:ext cx="6428232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422392" y="3438144"/>
            <a:ext cx="502920" cy="365760"/>
          </a:xfrm>
          <a:prstGeom prst="roundRect">
            <a:avLst>
              <a:gd name="adj" fmla="val 10000"/>
            </a:avLst>
          </a:prstGeom>
          <a:solidFill>
            <a:srgbClr val="A83232"/>
          </a:solidFill>
          <a:ln/>
        </p:spPr>
      </p:sp>
      <p:sp>
        <p:nvSpPr>
          <p:cNvPr id="62" name="Text 60"/>
          <p:cNvSpPr/>
          <p:nvPr/>
        </p:nvSpPr>
        <p:spPr>
          <a:xfrm>
            <a:off x="5422392" y="343814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6035040" y="3383280"/>
            <a:ext cx="5513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Atrasos no desenvolvimento dos submódulos</a:t>
            </a:r>
            <a:pPr indent="0" marL="0">
              <a:buNone/>
            </a:pPr>
            <a:r>
              <a:rPr lang="en-US" sz="1150" i="1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exposição 20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6035040" y="3712464"/>
            <a:ext cx="55138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70" b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Contenção: </a:t>
            </a:r>
            <a:pPr indent="0" marL="0">
              <a:lnSpc>
                <a:spcPct val="118000"/>
              </a:lnSpc>
              <a:buNone/>
            </a:pPr>
            <a:r>
              <a:rPr lang="en-US" sz="97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com marcos e folgas reservadas no cronograma.  </a:t>
            </a:r>
            <a:pPr indent="0" marL="0">
              <a:lnSpc>
                <a:spcPct val="118000"/>
              </a:lnSpc>
              <a:buNone/>
            </a:pPr>
            <a:r>
              <a:rPr lang="en-US" sz="970" b="1" dirty="0">
                <a:solidFill>
                  <a:srgbClr val="C97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Contingência: </a:t>
            </a:r>
            <a:pPr indent="0" marL="0">
              <a:lnSpc>
                <a:spcPct val="118000"/>
              </a:lnSpc>
              <a:buNone/>
            </a:pPr>
            <a:r>
              <a:rPr lang="en-US" sz="97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Repriorizar, redistribuir tarefas e atualizar o Gantt.</a:t>
            </a:r>
            <a:endParaRPr lang="en-US" sz="970" dirty="0"/>
          </a:p>
        </p:txBody>
      </p:sp>
      <p:sp>
        <p:nvSpPr>
          <p:cNvPr id="65" name="Shape 63"/>
          <p:cNvSpPr/>
          <p:nvPr/>
        </p:nvSpPr>
        <p:spPr>
          <a:xfrm>
            <a:off x="5257800" y="4498848"/>
            <a:ext cx="6428232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422392" y="4645152"/>
            <a:ext cx="502920" cy="365760"/>
          </a:xfrm>
          <a:prstGeom prst="roundRect">
            <a:avLst>
              <a:gd name="adj" fmla="val 10000"/>
            </a:avLst>
          </a:prstGeom>
          <a:solidFill>
            <a:srgbClr val="A83232"/>
          </a:solidFill>
          <a:ln/>
        </p:spPr>
      </p:sp>
      <p:sp>
        <p:nvSpPr>
          <p:cNvPr id="67" name="Text 65"/>
          <p:cNvSpPr/>
          <p:nvPr/>
        </p:nvSpPr>
        <p:spPr>
          <a:xfrm>
            <a:off x="5422392" y="464515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6035040" y="4590288"/>
            <a:ext cx="5513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Subestimação do esforço necessário</a:t>
            </a:r>
            <a:pPr indent="0" marL="0">
              <a:buNone/>
            </a:pPr>
            <a:r>
              <a:rPr lang="en-US" sz="1150" i="1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exposição 20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6035040" y="4919472"/>
            <a:ext cx="55138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70" b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Contenção: </a:t>
            </a:r>
            <a:pPr indent="0" marL="0">
              <a:lnSpc>
                <a:spcPct val="118000"/>
              </a:lnSpc>
              <a:buNone/>
            </a:pPr>
            <a:r>
              <a:rPr lang="en-US" sz="97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pequenas (&lt;8h), Planning Poker, revisão periódica.  </a:t>
            </a:r>
            <a:pPr indent="0" marL="0">
              <a:lnSpc>
                <a:spcPct val="118000"/>
              </a:lnSpc>
              <a:buNone/>
            </a:pPr>
            <a:r>
              <a:rPr lang="en-US" sz="970" b="1" dirty="0">
                <a:solidFill>
                  <a:srgbClr val="C97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Contingência: </a:t>
            </a:r>
            <a:pPr indent="0" marL="0">
              <a:lnSpc>
                <a:spcPct val="118000"/>
              </a:lnSpc>
              <a:buNone/>
            </a:pPr>
            <a:r>
              <a:rPr lang="en-US" sz="97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Reestimar, repriorizar e simplificar escopo se preciso.</a:t>
            </a:r>
            <a:endParaRPr lang="en-US" sz="970" dirty="0"/>
          </a:p>
        </p:txBody>
      </p:sp>
      <p:sp>
        <p:nvSpPr>
          <p:cNvPr id="70" name="Text 68"/>
          <p:cNvSpPr/>
          <p:nvPr/>
        </p:nvSpPr>
        <p:spPr>
          <a:xfrm>
            <a:off x="5257800" y="5751576"/>
            <a:ext cx="6428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 riscos adicionais mapeados, com planos de contenção e contingência — registro completo em docs/levantamento_de_riscos.md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Xadrez — Primeira Apresentação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11411712" y="6172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33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♞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7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E CONTROLE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Acompanhamento Semanal — Iteração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61188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545336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  </a:t>
            </a:r>
            <a:pPr indent="0" marL="0">
              <a:buNone/>
            </a:pPr>
            <a:r>
              <a:rPr lang="en-US" sz="9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26/08 – 01/09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04088" y="1819656"/>
            <a:ext cx="3209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Fundação do motor em C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04088" y="2167128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PV 20h   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 20h   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 18h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04088" y="251460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3A7D44">
              <a:alpha val="15000"/>
            </a:srgbClr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2514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</a:t>
            </a:r>
            <a:pPr algn="ctr" indent="0" marL="0">
              <a:buNone/>
            </a:pPr>
            <a:r>
              <a:rPr lang="en-US" sz="1150" b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121408" y="251460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3A7D44">
              <a:alpha val="15000"/>
            </a:srgbClr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21408" y="2514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</a:t>
            </a:r>
            <a:pPr algn="ctr" indent="0" marL="0">
              <a:buNone/>
            </a:pPr>
            <a:r>
              <a:rPr lang="en-US" sz="1150" b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1.11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97680" y="1417320"/>
            <a:ext cx="361188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8848" y="1545336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  </a:t>
            </a:r>
            <a:pPr indent="0" marL="0">
              <a:buNone/>
            </a:pPr>
            <a:r>
              <a:rPr lang="en-US" sz="9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02/09 – 06/09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98848" y="1819656"/>
            <a:ext cx="3209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lances e FEN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98848" y="2167128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PV 30h   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 25h   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 35h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98848" y="251460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A83232">
              <a:alpha val="15000"/>
            </a:srgbClr>
          </a:solidFill>
          <a:ln w="12700">
            <a:solidFill>
              <a:srgbClr val="A832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98848" y="2514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</a:t>
            </a:r>
            <a:pPr algn="ctr" indent="0" marL="0">
              <a:buNone/>
            </a:pPr>
            <a:r>
              <a:rPr lang="en-US" sz="1150" b="1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16168" y="251460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A83232">
              <a:alpha val="15000"/>
            </a:srgbClr>
          </a:solidFill>
          <a:ln w="12700">
            <a:solidFill>
              <a:srgbClr val="A832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16168" y="2514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</a:t>
            </a:r>
            <a:pPr algn="ctr" indent="0" marL="0">
              <a:buNone/>
            </a:pPr>
            <a:r>
              <a:rPr lang="en-US" sz="1150" b="1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92440" y="1417320"/>
            <a:ext cx="361188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93608" y="1545336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  </a:t>
            </a:r>
            <a:pPr indent="0" marL="0">
              <a:buNone/>
            </a:pPr>
            <a:r>
              <a:rPr lang="en-US" sz="9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07/09 – 13/09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93608" y="1819656"/>
            <a:ext cx="3209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EAP, riscos e base do SFML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293608" y="2167128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PV 40h   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 35h   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 38h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93608" y="251460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C9752B">
              <a:alpha val="15000"/>
            </a:srgbClr>
          </a:solidFill>
          <a:ln w="12700">
            <a:solidFill>
              <a:srgbClr val="C975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2514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</a:t>
            </a:r>
            <a:pPr algn="ctr" indent="0" marL="0">
              <a:buNone/>
            </a:pPr>
            <a:r>
              <a:rPr lang="en-US" sz="1150" b="1" dirty="0">
                <a:solidFill>
                  <a:srgbClr val="C97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710928" y="251460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C9752B">
              <a:alpha val="15000"/>
            </a:srgbClr>
          </a:solidFill>
          <a:ln w="12700">
            <a:solidFill>
              <a:srgbClr val="C975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10928" y="2514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</a:t>
            </a:r>
            <a:pPr algn="ctr" indent="0" marL="0">
              <a:buNone/>
            </a:pPr>
            <a:r>
              <a:rPr lang="en-US" sz="1150" b="1" dirty="0">
                <a:solidFill>
                  <a:srgbClr val="C97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2920" y="3246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 SPI / CPI</a:t>
            </a:r>
            <a:endParaRPr lang="en-US" sz="12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502920" y="3520440"/>
          <a:ext cx="11183112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Shape 27"/>
          <p:cNvSpPr/>
          <p:nvPr/>
        </p:nvSpPr>
        <p:spPr>
          <a:xfrm>
            <a:off x="502920" y="5779008"/>
            <a:ext cx="11183112" cy="0"/>
          </a:xfrm>
          <a:prstGeom prst="line">
            <a:avLst/>
          </a:prstGeom>
          <a:noFill/>
          <a:ln w="9525">
            <a:solidFill>
              <a:srgbClr val="DCDCE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02920" y="5852160"/>
            <a:ext cx="11183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e CPI caem na semana 2 (complexidade maior que a prevista na geração de lances em C) e voltam a convergir para a meta na semana 3.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Xadrez — Primeira Apresentação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11411712" y="6172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33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♞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7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Protótipo Parcial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3112" cy="658368"/>
          </a:xfrm>
          <a:prstGeom prst="roundRect">
            <a:avLst>
              <a:gd name="adj" fmla="val 8333"/>
            </a:avLst>
          </a:prstGeom>
          <a:solidFill>
            <a:srgbClr val="EFE6CE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10634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5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“Apesar do foco inicial ter sido o planejamento arquitetural e os requisitos, já temos uma versão inicial do protótipo rodando.”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534924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53288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C7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DESKTOP  ·  C++ / SFML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Renderização gráfica do tabuleiro 8×8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08276" y="3227832"/>
            <a:ext cx="242316" cy="242316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3227832"/>
            <a:ext cx="242316" cy="2423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1" name="Shape 9"/>
          <p:cNvSpPr/>
          <p:nvPr/>
        </p:nvSpPr>
        <p:spPr>
          <a:xfrm>
            <a:off x="2692908" y="3227832"/>
            <a:ext cx="242316" cy="242316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12" name="Shape 10"/>
          <p:cNvSpPr/>
          <p:nvPr/>
        </p:nvSpPr>
        <p:spPr>
          <a:xfrm>
            <a:off x="2935224" y="3227832"/>
            <a:ext cx="242316" cy="2423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3177540" y="3227832"/>
            <a:ext cx="242316" cy="242316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14" name="Shape 12"/>
          <p:cNvSpPr/>
          <p:nvPr/>
        </p:nvSpPr>
        <p:spPr>
          <a:xfrm>
            <a:off x="3419856" y="3227832"/>
            <a:ext cx="242316" cy="2423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3662172" y="3227832"/>
            <a:ext cx="242316" cy="242316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16" name="Shape 14"/>
          <p:cNvSpPr/>
          <p:nvPr/>
        </p:nvSpPr>
        <p:spPr>
          <a:xfrm>
            <a:off x="3904488" y="3227832"/>
            <a:ext cx="242316" cy="2423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2208276" y="3470148"/>
            <a:ext cx="242316" cy="2423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2450592" y="3470148"/>
            <a:ext cx="242316" cy="242316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19" name="Shape 17"/>
          <p:cNvSpPr/>
          <p:nvPr/>
        </p:nvSpPr>
        <p:spPr>
          <a:xfrm>
            <a:off x="2692908" y="3470148"/>
            <a:ext cx="242316" cy="2423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Shape 18"/>
          <p:cNvSpPr/>
          <p:nvPr/>
        </p:nvSpPr>
        <p:spPr>
          <a:xfrm>
            <a:off x="2935224" y="3470148"/>
            <a:ext cx="242316" cy="242316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21" name="Shape 19"/>
          <p:cNvSpPr/>
          <p:nvPr/>
        </p:nvSpPr>
        <p:spPr>
          <a:xfrm>
            <a:off x="3177540" y="3470148"/>
            <a:ext cx="242316" cy="2423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3419856" y="3470148"/>
            <a:ext cx="242316" cy="242316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23" name="Shape 21"/>
          <p:cNvSpPr/>
          <p:nvPr/>
        </p:nvSpPr>
        <p:spPr>
          <a:xfrm>
            <a:off x="3662172" y="3470148"/>
            <a:ext cx="242316" cy="2423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3904488" y="3470148"/>
            <a:ext cx="242316" cy="242316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25" name="Shape 23"/>
          <p:cNvSpPr/>
          <p:nvPr/>
        </p:nvSpPr>
        <p:spPr>
          <a:xfrm>
            <a:off x="2208276" y="3712464"/>
            <a:ext cx="242316" cy="242316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26" name="Shape 24"/>
          <p:cNvSpPr/>
          <p:nvPr/>
        </p:nvSpPr>
        <p:spPr>
          <a:xfrm>
            <a:off x="2450592" y="3712464"/>
            <a:ext cx="242316" cy="2423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7" name="Shape 25"/>
          <p:cNvSpPr/>
          <p:nvPr/>
        </p:nvSpPr>
        <p:spPr>
          <a:xfrm>
            <a:off x="2692908" y="3712464"/>
            <a:ext cx="242316" cy="242316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28" name="Shape 26"/>
          <p:cNvSpPr/>
          <p:nvPr/>
        </p:nvSpPr>
        <p:spPr>
          <a:xfrm>
            <a:off x="2935224" y="3712464"/>
            <a:ext cx="242316" cy="2423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9" name="Shape 27"/>
          <p:cNvSpPr/>
          <p:nvPr/>
        </p:nvSpPr>
        <p:spPr>
          <a:xfrm>
            <a:off x="3177540" y="3712464"/>
            <a:ext cx="242316" cy="242316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30" name="Shape 28"/>
          <p:cNvSpPr/>
          <p:nvPr/>
        </p:nvSpPr>
        <p:spPr>
          <a:xfrm>
            <a:off x="3419856" y="3712464"/>
            <a:ext cx="242316" cy="2423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1" name="Shape 29"/>
          <p:cNvSpPr/>
          <p:nvPr/>
        </p:nvSpPr>
        <p:spPr>
          <a:xfrm>
            <a:off x="3662172" y="3712464"/>
            <a:ext cx="242316" cy="242316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32" name="Shape 30"/>
          <p:cNvSpPr/>
          <p:nvPr/>
        </p:nvSpPr>
        <p:spPr>
          <a:xfrm>
            <a:off x="3904488" y="3712464"/>
            <a:ext cx="242316" cy="2423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3" name="Shape 31"/>
          <p:cNvSpPr/>
          <p:nvPr/>
        </p:nvSpPr>
        <p:spPr>
          <a:xfrm>
            <a:off x="2208276" y="3954780"/>
            <a:ext cx="242316" cy="2423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4" name="Shape 32"/>
          <p:cNvSpPr/>
          <p:nvPr/>
        </p:nvSpPr>
        <p:spPr>
          <a:xfrm>
            <a:off x="2450592" y="3954780"/>
            <a:ext cx="242316" cy="242316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35" name="Shape 33"/>
          <p:cNvSpPr/>
          <p:nvPr/>
        </p:nvSpPr>
        <p:spPr>
          <a:xfrm>
            <a:off x="2692908" y="3954780"/>
            <a:ext cx="242316" cy="2423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6" name="Shape 34"/>
          <p:cNvSpPr/>
          <p:nvPr/>
        </p:nvSpPr>
        <p:spPr>
          <a:xfrm>
            <a:off x="2935224" y="3954780"/>
            <a:ext cx="242316" cy="242316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37" name="Shape 35"/>
          <p:cNvSpPr/>
          <p:nvPr/>
        </p:nvSpPr>
        <p:spPr>
          <a:xfrm>
            <a:off x="3177540" y="3954780"/>
            <a:ext cx="242316" cy="2423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8" name="Shape 36"/>
          <p:cNvSpPr/>
          <p:nvPr/>
        </p:nvSpPr>
        <p:spPr>
          <a:xfrm>
            <a:off x="3419856" y="3954780"/>
            <a:ext cx="242316" cy="242316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39" name="Shape 37"/>
          <p:cNvSpPr/>
          <p:nvPr/>
        </p:nvSpPr>
        <p:spPr>
          <a:xfrm>
            <a:off x="3662172" y="3954780"/>
            <a:ext cx="242316" cy="2423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0" name="Shape 38"/>
          <p:cNvSpPr/>
          <p:nvPr/>
        </p:nvSpPr>
        <p:spPr>
          <a:xfrm>
            <a:off x="3904488" y="3954780"/>
            <a:ext cx="242316" cy="242316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41" name="Shape 39"/>
          <p:cNvSpPr/>
          <p:nvPr/>
        </p:nvSpPr>
        <p:spPr>
          <a:xfrm>
            <a:off x="2208276" y="4197096"/>
            <a:ext cx="242316" cy="242316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42" name="Shape 40"/>
          <p:cNvSpPr/>
          <p:nvPr/>
        </p:nvSpPr>
        <p:spPr>
          <a:xfrm>
            <a:off x="2450592" y="4197096"/>
            <a:ext cx="242316" cy="2423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3" name="Shape 41"/>
          <p:cNvSpPr/>
          <p:nvPr/>
        </p:nvSpPr>
        <p:spPr>
          <a:xfrm>
            <a:off x="2692908" y="4197096"/>
            <a:ext cx="242316" cy="242316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44" name="Shape 42"/>
          <p:cNvSpPr/>
          <p:nvPr/>
        </p:nvSpPr>
        <p:spPr>
          <a:xfrm>
            <a:off x="2935224" y="4197096"/>
            <a:ext cx="242316" cy="2423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5" name="Shape 43"/>
          <p:cNvSpPr/>
          <p:nvPr/>
        </p:nvSpPr>
        <p:spPr>
          <a:xfrm>
            <a:off x="3177540" y="4197096"/>
            <a:ext cx="242316" cy="242316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46" name="Shape 44"/>
          <p:cNvSpPr/>
          <p:nvPr/>
        </p:nvSpPr>
        <p:spPr>
          <a:xfrm>
            <a:off x="3419856" y="4197096"/>
            <a:ext cx="242316" cy="2423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7" name="Shape 45"/>
          <p:cNvSpPr/>
          <p:nvPr/>
        </p:nvSpPr>
        <p:spPr>
          <a:xfrm>
            <a:off x="3662172" y="4197096"/>
            <a:ext cx="242316" cy="242316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48" name="Shape 46"/>
          <p:cNvSpPr/>
          <p:nvPr/>
        </p:nvSpPr>
        <p:spPr>
          <a:xfrm>
            <a:off x="3904488" y="4197096"/>
            <a:ext cx="242316" cy="2423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9" name="Shape 47"/>
          <p:cNvSpPr/>
          <p:nvPr/>
        </p:nvSpPr>
        <p:spPr>
          <a:xfrm>
            <a:off x="2208276" y="4439412"/>
            <a:ext cx="242316" cy="2423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0" name="Shape 48"/>
          <p:cNvSpPr/>
          <p:nvPr/>
        </p:nvSpPr>
        <p:spPr>
          <a:xfrm>
            <a:off x="2450592" y="4439412"/>
            <a:ext cx="242316" cy="242316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51" name="Shape 49"/>
          <p:cNvSpPr/>
          <p:nvPr/>
        </p:nvSpPr>
        <p:spPr>
          <a:xfrm>
            <a:off x="2692908" y="4439412"/>
            <a:ext cx="242316" cy="2423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2" name="Shape 50"/>
          <p:cNvSpPr/>
          <p:nvPr/>
        </p:nvSpPr>
        <p:spPr>
          <a:xfrm>
            <a:off x="2935224" y="4439412"/>
            <a:ext cx="242316" cy="242316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53" name="Shape 51"/>
          <p:cNvSpPr/>
          <p:nvPr/>
        </p:nvSpPr>
        <p:spPr>
          <a:xfrm>
            <a:off x="3177540" y="4439412"/>
            <a:ext cx="242316" cy="2423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4" name="Shape 52"/>
          <p:cNvSpPr/>
          <p:nvPr/>
        </p:nvSpPr>
        <p:spPr>
          <a:xfrm>
            <a:off x="3419856" y="4439412"/>
            <a:ext cx="242316" cy="242316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55" name="Shape 53"/>
          <p:cNvSpPr/>
          <p:nvPr/>
        </p:nvSpPr>
        <p:spPr>
          <a:xfrm>
            <a:off x="3662172" y="4439412"/>
            <a:ext cx="242316" cy="2423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6" name="Shape 54"/>
          <p:cNvSpPr/>
          <p:nvPr/>
        </p:nvSpPr>
        <p:spPr>
          <a:xfrm>
            <a:off x="3904488" y="4439412"/>
            <a:ext cx="242316" cy="242316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57" name="Shape 55"/>
          <p:cNvSpPr/>
          <p:nvPr/>
        </p:nvSpPr>
        <p:spPr>
          <a:xfrm>
            <a:off x="2208276" y="4681728"/>
            <a:ext cx="242316" cy="242316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58" name="Shape 56"/>
          <p:cNvSpPr/>
          <p:nvPr/>
        </p:nvSpPr>
        <p:spPr>
          <a:xfrm>
            <a:off x="2450592" y="4681728"/>
            <a:ext cx="242316" cy="2423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9" name="Shape 57"/>
          <p:cNvSpPr/>
          <p:nvPr/>
        </p:nvSpPr>
        <p:spPr>
          <a:xfrm>
            <a:off x="2692908" y="4681728"/>
            <a:ext cx="242316" cy="242316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60" name="Shape 58"/>
          <p:cNvSpPr/>
          <p:nvPr/>
        </p:nvSpPr>
        <p:spPr>
          <a:xfrm>
            <a:off x="2935224" y="4681728"/>
            <a:ext cx="242316" cy="2423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1" name="Shape 59"/>
          <p:cNvSpPr/>
          <p:nvPr/>
        </p:nvSpPr>
        <p:spPr>
          <a:xfrm>
            <a:off x="3177540" y="4681728"/>
            <a:ext cx="242316" cy="242316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62" name="Shape 60"/>
          <p:cNvSpPr/>
          <p:nvPr/>
        </p:nvSpPr>
        <p:spPr>
          <a:xfrm>
            <a:off x="3419856" y="4681728"/>
            <a:ext cx="242316" cy="2423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3" name="Shape 61"/>
          <p:cNvSpPr/>
          <p:nvPr/>
        </p:nvSpPr>
        <p:spPr>
          <a:xfrm>
            <a:off x="3662172" y="4681728"/>
            <a:ext cx="242316" cy="242316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64" name="Shape 62"/>
          <p:cNvSpPr/>
          <p:nvPr/>
        </p:nvSpPr>
        <p:spPr>
          <a:xfrm>
            <a:off x="3904488" y="4681728"/>
            <a:ext cx="242316" cy="2423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5" name="Shape 63"/>
          <p:cNvSpPr/>
          <p:nvPr/>
        </p:nvSpPr>
        <p:spPr>
          <a:xfrm>
            <a:off x="2208276" y="4924044"/>
            <a:ext cx="242316" cy="2423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6" name="Shape 64"/>
          <p:cNvSpPr/>
          <p:nvPr/>
        </p:nvSpPr>
        <p:spPr>
          <a:xfrm>
            <a:off x="2450592" y="4924044"/>
            <a:ext cx="242316" cy="242316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67" name="Shape 65"/>
          <p:cNvSpPr/>
          <p:nvPr/>
        </p:nvSpPr>
        <p:spPr>
          <a:xfrm>
            <a:off x="2692908" y="4924044"/>
            <a:ext cx="242316" cy="2423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8" name="Shape 66"/>
          <p:cNvSpPr/>
          <p:nvPr/>
        </p:nvSpPr>
        <p:spPr>
          <a:xfrm>
            <a:off x="2935224" y="4924044"/>
            <a:ext cx="242316" cy="242316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69" name="Shape 67"/>
          <p:cNvSpPr/>
          <p:nvPr/>
        </p:nvSpPr>
        <p:spPr>
          <a:xfrm>
            <a:off x="3177540" y="4924044"/>
            <a:ext cx="242316" cy="2423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0" name="Shape 68"/>
          <p:cNvSpPr/>
          <p:nvPr/>
        </p:nvSpPr>
        <p:spPr>
          <a:xfrm>
            <a:off x="3419856" y="4924044"/>
            <a:ext cx="242316" cy="242316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71" name="Shape 69"/>
          <p:cNvSpPr/>
          <p:nvPr/>
        </p:nvSpPr>
        <p:spPr>
          <a:xfrm>
            <a:off x="3662172" y="4924044"/>
            <a:ext cx="242316" cy="2423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2" name="Shape 70"/>
          <p:cNvSpPr/>
          <p:nvPr/>
        </p:nvSpPr>
        <p:spPr>
          <a:xfrm>
            <a:off x="3904488" y="4924044"/>
            <a:ext cx="242316" cy="242316"/>
          </a:xfrm>
          <a:prstGeom prst="rect">
            <a:avLst/>
          </a:prstGeom>
          <a:solidFill>
            <a:srgbClr val="EDEDF2"/>
          </a:solidFill>
          <a:ln/>
        </p:spPr>
      </p:sp>
      <p:sp>
        <p:nvSpPr>
          <p:cNvPr id="73" name="Shape 71"/>
          <p:cNvSpPr/>
          <p:nvPr/>
        </p:nvSpPr>
        <p:spPr>
          <a:xfrm>
            <a:off x="2208276" y="3227832"/>
            <a:ext cx="1938528" cy="1938528"/>
          </a:xfrm>
          <a:prstGeom prst="rect">
            <a:avLst/>
          </a:prstGeom>
          <a:ln w="19050">
            <a:solidFill>
              <a:srgbClr val="D5D5D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77240" y="519379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Ilustrativo — tabuleiro 8×8 renderizado via SFML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217920" y="2331720"/>
            <a:ext cx="5349240" cy="3246120"/>
          </a:xfrm>
          <a:prstGeom prst="roundRect">
            <a:avLst>
              <a:gd name="adj" fmla="val 1972"/>
            </a:avLst>
          </a:prstGeom>
          <a:solidFill>
            <a:srgbClr val="1A1A2E"/>
          </a:solidFill>
          <a:ln/>
        </p:spPr>
      </p:sp>
      <p:sp>
        <p:nvSpPr>
          <p:cNvPr id="76" name="Text 74"/>
          <p:cNvSpPr/>
          <p:nvPr/>
        </p:nvSpPr>
        <p:spPr>
          <a:xfrm>
            <a:off x="6492240" y="253288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REGRAS  ·  C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6492240" y="2807208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Inicialização do tabuleiro e leitura de FEN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6492240" y="3566160"/>
            <a:ext cx="4800600" cy="868680"/>
          </a:xfrm>
          <a:prstGeom prst="roundRect">
            <a:avLst>
              <a:gd name="adj" fmla="val 5263"/>
            </a:avLst>
          </a:prstGeom>
          <a:solidFill>
            <a:srgbClr val="252A4A"/>
          </a:solidFill>
          <a:ln w="12700">
            <a:solidFill>
              <a:srgbClr val="3A3F6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675120" y="356616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E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rnbqkbnr/pppppppp/8/8/8/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E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8/PPPPPPPP/RNBQKBNR w KQkq - 0 1</a:t>
            </a:r>
            <a:endParaRPr lang="en-US" sz="1150" dirty="0"/>
          </a:p>
        </p:txBody>
      </p:sp>
      <p:sp>
        <p:nvSpPr>
          <p:cNvPr id="80" name="Text 78"/>
          <p:cNvSpPr/>
          <p:nvPr/>
        </p:nvSpPr>
        <p:spPr>
          <a:xfrm>
            <a:off x="6492240" y="457200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C7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inicial em notação FEN (Forsyth–Edwards), lida corretamente pelo motor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492240" y="516636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7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seis campos do FEN são validados por fen_parse — ver docs/fen.md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Xadrez — Primeira Apresentação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11411712" y="6172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33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♞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DO SISTEMA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Cliente e o Motor Conversam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0" y="1874520"/>
            <a:ext cx="2834640" cy="914400"/>
          </a:xfrm>
          <a:prstGeom prst="roundRect">
            <a:avLst>
              <a:gd name="adj" fmla="val 6000"/>
            </a:avLst>
          </a:prstGeom>
          <a:solidFill>
            <a:srgbClr val="252A4A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8745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Desktop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(C++)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982712" y="1874520"/>
            <a:ext cx="2834640" cy="914400"/>
          </a:xfrm>
          <a:prstGeom prst="roundRect">
            <a:avLst>
              <a:gd name="adj" fmla="val 6000"/>
            </a:avLst>
          </a:prstGeom>
          <a:solidFill>
            <a:srgbClr val="252A4A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82712" y="18745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Regras + IA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06240" y="2331720"/>
            <a:ext cx="377647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headEnd type="triangl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206240" y="1828800"/>
            <a:ext cx="3776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spawna como subprocesso  ·  stdin / stdout  ·  protocolo texto estilo UCI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06240" y="2514600"/>
            <a:ext cx="37764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97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servidor no caminho crítico — decisão fechada em arquitetura-xadrez.md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85516" y="3291840"/>
            <a:ext cx="6217920" cy="1234440"/>
          </a:xfrm>
          <a:prstGeom prst="roundRect">
            <a:avLst>
              <a:gd name="adj" fmla="val 4444"/>
            </a:avLst>
          </a:prstGeom>
          <a:solidFill>
            <a:srgbClr val="10101E"/>
          </a:solidFill>
          <a:ln w="12700">
            <a:solidFill>
              <a:srgbClr val="3A3F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59836" y="3429000"/>
            <a:ext cx="5669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4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 startpos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4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movetime 2000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FCB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E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bestmove e2e4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937760"/>
            <a:ext cx="11183112" cy="0"/>
          </a:xfrm>
          <a:prstGeom prst="line">
            <a:avLst/>
          </a:prstGeom>
          <a:noFill/>
          <a:ln w="9525">
            <a:solidFill>
              <a:srgbClr val="3A3F63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02920" y="507492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8D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 FUTURA (se sobrar tempo):  </a:t>
            </a:r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B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Servidor (Node/TS) passa a existir como um segundo processo que fala o mesmo protocolo — adicionado por cima do caminho direto, sem substituí-lo.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7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Xadrez — Arquitetura e Demonstração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7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411712" y="6172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3E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♞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7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— MOTOR EM C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Estruturas de Dados Centrais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160520"/>
          </a:xfrm>
          <a:prstGeom prst="roundRect">
            <a:avLst>
              <a:gd name="adj" fmla="val 1319"/>
            </a:avLst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6420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board.h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AB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tabuleiro — mailbox de 64 casas, a1 = 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2514600"/>
            <a:ext cx="4846320" cy="2834640"/>
          </a:xfrm>
          <a:prstGeom prst="roundRect">
            <a:avLst>
              <a:gd name="adj" fmla="val 1290"/>
            </a:avLst>
          </a:prstGeom>
          <a:solidFill>
            <a:srgbClr val="10101E"/>
          </a:solidFill>
          <a:ln w="12700">
            <a:solidFill>
              <a:srgbClr val="2E32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670048"/>
            <a:ext cx="44805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{</a:t>
            </a:r>
            <a:endParaRPr lang="en-US" sz="113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Piece</a:t>
            </a:r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D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array[BOARD_SIZE];</a:t>
            </a:r>
            <a:pPr indent="0" marL="0">
              <a:lnSpc>
                <a:spcPct val="132000"/>
              </a:lnSpc>
              <a:buNone/>
            </a:pPr>
            <a:r>
              <a:rPr lang="en-US" sz="1130" i="1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64 casas</a:t>
            </a:r>
            <a:endParaRPr lang="en-US" sz="113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</a:t>
            </a:r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D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side_to_move;</a:t>
            </a:r>
            <a:endParaRPr lang="en-US" sz="113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</a:t>
            </a:r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D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king_square[2];</a:t>
            </a:r>
            <a:endParaRPr lang="en-US" sz="113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D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3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u8</a:t>
            </a:r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D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castling_rights;</a:t>
            </a:r>
            <a:pPr indent="0" marL="0">
              <a:lnSpc>
                <a:spcPct val="132000"/>
              </a:lnSpc>
              <a:buNone/>
            </a:pPr>
            <a:r>
              <a:rPr lang="en-US" sz="1130" i="1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KQkq</a:t>
            </a:r>
            <a:endParaRPr lang="en-US" sz="113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</a:t>
            </a:r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D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ep_square;</a:t>
            </a:r>
            <a:pPr indent="0" marL="0">
              <a:lnSpc>
                <a:spcPct val="132000"/>
              </a:lnSpc>
              <a:buNone/>
            </a:pPr>
            <a:r>
              <a:rPr lang="en-US" sz="1130" i="1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-1 se ausente</a:t>
            </a:r>
            <a:endParaRPr lang="en-US" sz="113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</a:t>
            </a:r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D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halfmove_clock;</a:t>
            </a:r>
            <a:endParaRPr lang="en-US" sz="113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</a:t>
            </a:r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D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fullmove_number;</a:t>
            </a:r>
            <a:endParaRPr lang="en-US" sz="113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Board;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422392" cy="4160520"/>
          </a:xfrm>
          <a:prstGeom prst="roundRect">
            <a:avLst>
              <a:gd name="adj" fmla="val 1319"/>
            </a:avLst>
          </a:prstGeom>
          <a:solidFill>
            <a:srgbClr val="1A1A2E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664208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piece.h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37960" y="1920240"/>
            <a:ext cx="4873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AB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peça = 1 byte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37960" y="2514600"/>
            <a:ext cx="4873752" cy="2834640"/>
          </a:xfrm>
          <a:prstGeom prst="roundRect">
            <a:avLst>
              <a:gd name="adj" fmla="val 1290"/>
            </a:avLst>
          </a:prstGeom>
          <a:solidFill>
            <a:srgbClr val="10101E"/>
          </a:solidFill>
          <a:ln w="12700">
            <a:solidFill>
              <a:srgbClr val="2E32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2670048"/>
            <a:ext cx="4507992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</a:t>
            </a:r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9FE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u8</a:t>
            </a:r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D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Piece;</a:t>
            </a:r>
            <a:endParaRPr lang="en-US" sz="113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D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3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30" i="1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 0 0 0 0 [cor] [tipo] */</a:t>
            </a:r>
            <a:endParaRPr lang="en-US" sz="113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D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3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</a:t>
            </a:r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D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PIECE_MAKE(c, t) \</a:t>
            </a:r>
            <a:endParaRPr lang="en-US" sz="113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D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((c&amp;1)&lt;&lt;3 | (t&amp;7))</a:t>
            </a:r>
            <a:endParaRPr lang="en-US" sz="113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D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3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</a:t>
            </a:r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D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PIECE_TYPE(p)  \</a:t>
            </a:r>
            <a:endParaRPr lang="en-US" sz="113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D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(p &amp; 0x7)</a:t>
            </a:r>
            <a:endParaRPr lang="en-US" sz="113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</a:t>
            </a:r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D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PIECE_COLOR(p) \</a:t>
            </a:r>
            <a:endParaRPr lang="en-US" sz="113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D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((p&gt;&gt;3) &amp; 0x1)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Xadrez — Arquitetura e Demonstração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411712" y="6172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33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♞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7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— MOTOR EM C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Codificação de Lances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858000" cy="4160520"/>
          </a:xfrm>
          <a:prstGeom prst="roundRect">
            <a:avLst>
              <a:gd name="adj" fmla="val 1319"/>
            </a:avLst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6420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move.h  +  move.c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B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lance inteiro cabe em 16 bits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2331720"/>
            <a:ext cx="6309360" cy="3017520"/>
          </a:xfrm>
          <a:prstGeom prst="roundRect">
            <a:avLst>
              <a:gd name="adj" fmla="val 1212"/>
            </a:avLst>
          </a:prstGeom>
          <a:solidFill>
            <a:srgbClr val="10101E"/>
          </a:solidFill>
          <a:ln w="12700">
            <a:solidFill>
              <a:srgbClr val="2E32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514600"/>
            <a:ext cx="59436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8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</a:t>
            </a:r>
            <a:pPr indent="0" marL="0">
              <a:lnSpc>
                <a:spcPct val="135000"/>
              </a:lnSpc>
              <a:buNone/>
            </a:pPr>
            <a:r>
              <a:rPr lang="en-US" sz="1180" dirty="0">
                <a:solidFill>
                  <a:srgbClr val="9FE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u16</a:t>
            </a:r>
            <a:pPr indent="0" marL="0">
              <a:lnSpc>
                <a:spcPct val="135000"/>
              </a:lnSpc>
              <a:buNone/>
            </a:pPr>
            <a:r>
              <a:rPr lang="en-US" sz="1180" dirty="0">
                <a:solidFill>
                  <a:srgbClr val="D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Move;   </a:t>
            </a:r>
            <a:pPr indent="0" marL="0">
              <a:lnSpc>
                <a:spcPct val="135000"/>
              </a:lnSpc>
              <a:buNone/>
            </a:pPr>
            <a:r>
              <a:rPr lang="en-US" sz="1180" i="1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[tipo:4][destino:6][origem:6] */</a:t>
            </a:r>
            <a:endParaRPr lang="en-US" sz="11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80" dirty="0">
                <a:solidFill>
                  <a:srgbClr val="D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8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</a:t>
            </a:r>
            <a:pPr indent="0" marL="0">
              <a:lnSpc>
                <a:spcPct val="135000"/>
              </a:lnSpc>
              <a:buNone/>
            </a:pPr>
            <a:r>
              <a:rPr lang="en-US" sz="1180" dirty="0">
                <a:solidFill>
                  <a:srgbClr val="8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encode_move</a:t>
            </a:r>
            <a:pPr indent="0" marL="0">
              <a:lnSpc>
                <a:spcPct val="135000"/>
              </a:lnSpc>
              <a:buNone/>
            </a:pPr>
            <a:r>
              <a:rPr lang="en-US" sz="1180" dirty="0">
                <a:solidFill>
                  <a:srgbClr val="D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35000"/>
              </a:lnSpc>
              <a:buNone/>
            </a:pPr>
            <a:r>
              <a:rPr lang="en-US" sz="118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35000"/>
              </a:lnSpc>
              <a:buNone/>
            </a:pPr>
            <a:r>
              <a:rPr lang="en-US" sz="1180" dirty="0">
                <a:solidFill>
                  <a:srgbClr val="D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from, </a:t>
            </a:r>
            <a:pPr indent="0" marL="0">
              <a:lnSpc>
                <a:spcPct val="135000"/>
              </a:lnSpc>
              <a:buNone/>
            </a:pPr>
            <a:r>
              <a:rPr lang="en-US" sz="118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35000"/>
              </a:lnSpc>
              <a:buNone/>
            </a:pPr>
            <a:r>
              <a:rPr lang="en-US" sz="1180" dirty="0">
                <a:solidFill>
                  <a:srgbClr val="D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to, MoveType type) {</a:t>
            </a:r>
            <a:endParaRPr lang="en-US" sz="11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80" dirty="0">
                <a:solidFill>
                  <a:srgbClr val="D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(Move)(from | (to &lt;&lt; 6) | (type &lt;&lt; 12));</a:t>
            </a:r>
            <a:endParaRPr lang="en-US" sz="11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80" dirty="0">
                <a:solidFill>
                  <a:srgbClr val="D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80" dirty="0">
                <a:solidFill>
                  <a:srgbClr val="D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8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35000"/>
              </a:lnSpc>
              <a:buNone/>
            </a:pPr>
            <a:r>
              <a:rPr lang="en-US" sz="1180" dirty="0">
                <a:solidFill>
                  <a:srgbClr val="D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35000"/>
              </a:lnSpc>
              <a:buNone/>
            </a:pPr>
            <a:r>
              <a:rPr lang="en-US" sz="1180" dirty="0">
                <a:solidFill>
                  <a:srgbClr val="8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move_from</a:t>
            </a:r>
            <a:pPr indent="0" marL="0">
              <a:lnSpc>
                <a:spcPct val="135000"/>
              </a:lnSpc>
              <a:buNone/>
            </a:pPr>
            <a:r>
              <a:rPr lang="en-US" sz="1180" dirty="0">
                <a:solidFill>
                  <a:srgbClr val="D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(Move m) { </a:t>
            </a:r>
            <a:pPr indent="0" marL="0">
              <a:lnSpc>
                <a:spcPct val="135000"/>
              </a:lnSpc>
              <a:buNone/>
            </a:pPr>
            <a:r>
              <a:rPr lang="en-US" sz="118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35000"/>
              </a:lnSpc>
              <a:buNone/>
            </a:pPr>
            <a:r>
              <a:rPr lang="en-US" sz="1180" dirty="0">
                <a:solidFill>
                  <a:srgbClr val="D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 &amp; 0x3F; }</a:t>
            </a:r>
            <a:endParaRPr lang="en-US" sz="11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8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35000"/>
              </a:lnSpc>
              <a:buNone/>
            </a:pPr>
            <a:r>
              <a:rPr lang="en-US" sz="1180" dirty="0">
                <a:solidFill>
                  <a:srgbClr val="D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35000"/>
              </a:lnSpc>
              <a:buNone/>
            </a:pPr>
            <a:r>
              <a:rPr lang="en-US" sz="1180" dirty="0">
                <a:solidFill>
                  <a:srgbClr val="8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move_to</a:t>
            </a:r>
            <a:pPr indent="0" marL="0">
              <a:lnSpc>
                <a:spcPct val="135000"/>
              </a:lnSpc>
              <a:buNone/>
            </a:pPr>
            <a:r>
              <a:rPr lang="en-US" sz="1180" dirty="0">
                <a:solidFill>
                  <a:srgbClr val="D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(Move m)   { </a:t>
            </a:r>
            <a:pPr indent="0" marL="0">
              <a:lnSpc>
                <a:spcPct val="135000"/>
              </a:lnSpc>
              <a:buNone/>
            </a:pPr>
            <a:r>
              <a:rPr lang="en-US" sz="118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35000"/>
              </a:lnSpc>
              <a:buNone/>
            </a:pPr>
            <a:r>
              <a:rPr lang="en-US" sz="1180" dirty="0">
                <a:solidFill>
                  <a:srgbClr val="D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(m &gt;&gt; 6) &amp; 0x3F; }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7726680" y="1463040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dos 16 bits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26680" y="1965960"/>
            <a:ext cx="989838" cy="502920"/>
          </a:xfrm>
          <a:prstGeom prst="rect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26680" y="1965960"/>
            <a:ext cx="9898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bits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716518" y="1965960"/>
            <a:ext cx="1484757" cy="502920"/>
          </a:xfrm>
          <a:prstGeom prst="rect">
            <a:avLst/>
          </a:prstGeom>
          <a:solidFill>
            <a:srgbClr val="6E93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16518" y="1965960"/>
            <a:ext cx="148475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bits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201275" y="1965960"/>
            <a:ext cx="1484757" cy="502920"/>
          </a:xfrm>
          <a:prstGeom prst="rect">
            <a:avLst/>
          </a:prstGeom>
          <a:solidFill>
            <a:srgbClr val="9BB4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01275" y="1965960"/>
            <a:ext cx="148475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bits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26680" y="2542032"/>
            <a:ext cx="9898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716518" y="2542032"/>
            <a:ext cx="148475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201275" y="2542032"/>
            <a:ext cx="148475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726680" y="2971800"/>
            <a:ext cx="395935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MoveType: 16 valores mutuamente exclusivos — quieto, avanço duplo, roques, captura, en passant, 4 promoções, 4 promoções‑com‑captura.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26680" y="4846320"/>
            <a:ext cx="39593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recomendado pela Chess Programming Wiki (Encoding Moves) — implementado e conferido bit a bit.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Xadrez — Arquitetura e Demonstração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411712" y="6172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33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♞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37276" y="1554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♜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0" y="260604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333756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FC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88636" y="4160520"/>
            <a:ext cx="2011680" cy="0"/>
          </a:xfrm>
          <a:prstGeom prst="line">
            <a:avLst/>
          </a:prstGeom>
          <a:noFill/>
          <a:ln w="15875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3891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79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github.com/Alessandro-F-Ferreira-F/Xadrez-ES2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11712" y="6172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3E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♞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Xadrez — Primeira Apresentação</dc:title>
  <dc:subject>PptxGenJS Presentation</dc:subject>
  <dc:creator>Equipe Xadrez-ES2</dc:creator>
  <cp:lastModifiedBy>Equipe Xadrez-ES2</cp:lastModifiedBy>
  <cp:revision>1</cp:revision>
  <dcterms:created xsi:type="dcterms:W3CDTF">2026-09-14T03:06:55Z</dcterms:created>
  <dcterms:modified xsi:type="dcterms:W3CDTF">2026-09-14T03:06:55Z</dcterms:modified>
</cp:coreProperties>
</file>